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AUM (₹ 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18000</c:v>
                </c:pt>
                <c:pt idx="1">
                  <c:v>30000</c:v>
                </c:pt>
                <c:pt idx="2">
                  <c:v>43200</c:v>
                </c:pt>
                <c:pt idx="3">
                  <c:v>64000</c:v>
                </c:pt>
                <c:pt idx="4">
                  <c:v>80000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2" y="274320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1152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624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6096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68512" y="621792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31152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6096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68512" y="969264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8624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8512" y="1316736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31152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8624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73568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68512" y="1664208"/>
            <a:ext cx="64008" cy="64008"/>
          </a:xfrm>
          <a:prstGeom prst="ellipse">
            <a:avLst/>
          </a:prstGeom>
          <a:solidFill>
            <a:srgbClr val="FDE68A">
              <a:alpha val="25000"/>
            </a:srgbClr>
          </a:solidFill>
          <a:ln w="12700">
            <a:solidFill>
              <a:srgbClr val="FDE68A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502920"/>
            <a:ext cx="3474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02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TENZORX 2026  ·  NATIONAL AI HACKATHON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292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PlacementIQ</a:t>
            </a:r>
            <a:endParaRPr lang="en-US" sz="6400" dirty="0"/>
          </a:p>
        </p:txBody>
      </p:sp>
      <p:sp>
        <p:nvSpPr>
          <p:cNvPr id="41" name="Text 39"/>
          <p:cNvSpPr/>
          <p:nvPr/>
        </p:nvSpPr>
        <p:spPr>
          <a:xfrm>
            <a:off x="502920" y="20299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Placement Risk Modelling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Loan Portfolios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02920" y="2907792"/>
            <a:ext cx="4754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035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who will get placed — before the moratorium ends.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02920" y="3584448"/>
            <a:ext cx="7863840" cy="1325880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3584448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3630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TEAM</a:t>
            </a:r>
            <a:endParaRPr lang="en-US" sz="9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0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97280" y="3913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 N S Sri Harshith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97280" y="416966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ML &amp; Model Architecture</a:t>
            </a:r>
            <a:endParaRPr lang="en-US" sz="100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931920"/>
            <a:ext cx="274320" cy="27432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3703320" y="3913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Surya Alakanti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3703320" y="416966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Frontend &amp; Dashboard</a:t>
            </a:r>
            <a:endParaRPr lang="en-US" sz="100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3931920"/>
            <a:ext cx="274320" cy="27432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309360" y="39136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Suri Shashank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6309360" y="416966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Engineering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7635240" y="3630168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7635240" y="3630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Problem Statement 1</a:t>
            </a:r>
            <a:endParaRPr lang="en-US" sz="800" dirty="0"/>
          </a:p>
        </p:txBody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6304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THE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India's Graduate Employment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993392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1993392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78992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91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45.2%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2496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Graduates 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employable by industry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India Skills Report 2025 (Wheebox)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50592" y="841248"/>
            <a:ext cx="1993392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841248"/>
            <a:ext cx="199339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078992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50592" y="1691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3.6%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2450592" y="2496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Education loan NPA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(highest retail category)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50592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RBI Financial Stability Report 2024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26864" y="841248"/>
            <a:ext cx="1993392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841248"/>
            <a:ext cx="199339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078992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26864" y="1691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4626864" y="2496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NBFC ed-loan book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under moratorium in FY26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26864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CRISIL Ratings, July 2025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803136" y="841248"/>
            <a:ext cx="1993392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03136" y="841248"/>
            <a:ext cx="1993392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078992"/>
            <a:ext cx="530352" cy="5303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03136" y="1691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6803136" y="249631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Graduate unemployment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(ages 20–29, India)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03136" y="32461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Azim Premji — State of Working India 2026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274320" y="4572000"/>
            <a:ext cx="8595360" cy="429768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572000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DE68A"/>
                </a:solidFill>
              </a:rPr>
              <a:t>💡  As of FY26, ~15% of NBFC moratorium book exits contractual protection this fiscal — lenders have NO forward-looking placement signal when EMIs begin. (CRISIL, 2025)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THE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Education Lending in India — Size &amp; Risk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NBFC Education Loan AUM Growth (₹ Crore)  |  FY26 = Current Year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800600" y="822960"/>
            <a:ext cx="406908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822960"/>
            <a:ext cx="10972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93268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Education loans have the HIGHEST NPA rate (3.6%) among all retail loan categories — above credit cards, auto &amp; housing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0600" y="2121408"/>
            <a:ext cx="406908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2121408"/>
            <a:ext cx="10972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414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23113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 85% of NBFC education loan AUM is under moratorium in FY25 — real stress is deferred, not absent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3419856"/>
            <a:ext cx="406908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0600" y="3419856"/>
            <a:ext cx="109728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3989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52958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Poonawalla Fincorp operates in this ₹80,000–92,000 Cr market (FY26–27) — and faces the same moratorium blind spot as every other NBFC lender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00600" y="4736592"/>
            <a:ext cx="4069080" cy="256032"/>
          </a:xfrm>
          <a:prstGeom prst="rect">
            <a:avLst/>
          </a:prstGeom>
          <a:solidFill>
            <a:srgbClr val="112030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00600" y="47365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CRISIL Ratings, RBI FSR 2024, Avanse Industry Report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THE BLIND SPOT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Lenders Know vs. What They Need to Know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LENDERS ASSESS TODAY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371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Co-applicant income &amp; CIBIL score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1901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University name / ranking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2432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type (Engg / MBA / etc.)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626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" y="2962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Loan amount vs. package estimate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93008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" y="3493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Collateral (if any)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365760" y="4251960"/>
            <a:ext cx="3749040" cy="502920"/>
          </a:xfrm>
          <a:prstGeom prst="rect">
            <a:avLst/>
          </a:prstGeom>
          <a:solidFill>
            <a:srgbClr val="11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365760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None of these predict PLACEMENT TIMELINE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2331720"/>
            <a:ext cx="502920" cy="5029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937760" y="822960"/>
            <a:ext cx="39319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937760" y="822960"/>
            <a:ext cx="3931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937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LENDERS NEED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137160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49824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Placement probability at 3/6/12 months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352" y="190195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49824" y="1901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Expected salary band (field + institute)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352" y="2432304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449824" y="2432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Institute placement track record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2352" y="2962656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449824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Industry hiring trends for the course</a:t>
            </a:r>
            <a:endParaRPr lang="en-US" sz="12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2352" y="3493008"/>
            <a:ext cx="256032" cy="25603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449824" y="3493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Student employability signals</a:t>
            </a:r>
            <a:endParaRPr lang="en-US" sz="1200" dirty="0"/>
          </a:p>
        </p:txBody>
      </p:sp>
      <p:sp>
        <p:nvSpPr>
          <p:cNvPr id="34" name="Shape 21"/>
          <p:cNvSpPr/>
          <p:nvPr/>
        </p:nvSpPr>
        <p:spPr>
          <a:xfrm>
            <a:off x="5029200" y="3913632"/>
            <a:ext cx="3749040" cy="841248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5120640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Example: A student from a Tier-2 institute with no internships has</a:t>
            </a:r>
            <a:endParaRPr lang="en-US" sz="950" dirty="0"/>
          </a:p>
        </p:txBody>
      </p:sp>
      <p:sp>
        <p:nvSpPr>
          <p:cNvPr id="36" name="Text 23"/>
          <p:cNvSpPr/>
          <p:nvPr/>
        </p:nvSpPr>
        <p:spPr>
          <a:xfrm>
            <a:off x="5120640" y="4206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3×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lower 6-month placement probability</a:t>
            </a:r>
            <a:endParaRPr lang="en-US" sz="1500" dirty="0"/>
          </a:p>
        </p:txBody>
      </p:sp>
      <p:sp>
        <p:nvSpPr>
          <p:cNvPr id="37" name="Text 24"/>
          <p:cNvSpPr/>
          <p:nvPr/>
        </p:nvSpPr>
        <p:spPr>
          <a:xfrm>
            <a:off x="5120640" y="4480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vs. NIT graduate with 2 internships — same loan, invisible risk gap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PlacementIQ — What It Does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An AI-powered Placement Risk Score (PRS) that predicts placement probability at 3, 6, and 12 months post-graduation — built for NBFC portfolio monitoring, not student coaching.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69748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697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38528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606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Score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264408"/>
            <a:ext cx="2148840" cy="0"/>
          </a:xfrm>
          <a:prstGeom prst="line">
            <a:avLst/>
          </a:prstGeom>
          <a:noFill/>
          <a:ln w="889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337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P(placed in 3mo)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P(placed in 6mo)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P(placed in 12mo)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1737360"/>
            <a:ext cx="269748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737360"/>
            <a:ext cx="2697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38528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2606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 Band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3429000" y="3264408"/>
            <a:ext cx="2148840" cy="0"/>
          </a:xfrm>
          <a:prstGeom prst="line">
            <a:avLst/>
          </a:prstGeom>
          <a:noFill/>
          <a:ln w="889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3337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₹3–5 LPA / ₹8–12 LPA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Field + institute adjusted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Confidence interval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35040" y="1737360"/>
            <a:ext cx="269748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73736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38528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2606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Flag &amp;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Signal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6309360" y="3264408"/>
            <a:ext cx="2148840" cy="0"/>
          </a:xfrm>
          <a:prstGeom prst="line">
            <a:avLst/>
          </a:prstGeom>
          <a:noFill/>
          <a:ln w="889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35040" y="3337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Low / Medium / 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AI-generated explanation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Recommended next action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112030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Built for:  NBFCs &amp; Lenders   |   Education Loan Portfolio Managers   |   Risk &amp; Collections Teams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Data Layers Powering PlacementIQ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5029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96926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859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Student Academic Profile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CGPA · Backlogs · Internship history · Certifications · Course type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2356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Source: Loan application form + institute records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" y="1645920"/>
            <a:ext cx="8595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1645920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6459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1051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Institute &amp; Program Intelligence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1732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NIRF ranking · Historical placement rates (3/6/12mo) · Placement cell activity · Salary benchmarks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623560" y="1865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Source: NIRF public data · AISHE reports · institute disclosures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74320" y="2487168"/>
            <a:ext cx="8595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2487168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4320" y="24871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6517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17320" y="2542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Industry &amp; Labor Market Signals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417320" y="2871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Sector hiring trends · Regional job density · Macro employment indicators · YoY demand shifts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623560" y="2706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Source: CMIE · RBI employment surveys · LinkedIn hiring data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274320" y="3328416"/>
            <a:ext cx="8595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74320" y="3328416"/>
            <a:ext cx="5029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4320" y="33284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493008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Real-Time Employability Signals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417320" y="3712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Job portal activity · Resume update events · Interview pipeline progress · Skill certifications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62356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Source: Optional: shared by student / institute during moratorium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274320" y="4169664"/>
            <a:ext cx="85953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74320" y="4169664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4320" y="41696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34256"/>
            <a:ext cx="411480" cy="4114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17320" y="4224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Historical Repayment Outcomes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417320" y="4553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Past placement status at 3/6/12mo · Actual salary at joining · Default / NPA flags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62356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Source: NBFC internal loan performance data (training labels)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MODEL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Full ML Pipeline — How It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1444752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14447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05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527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Features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6032" y="18836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Student + Institute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 Industry data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00784" y="146304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10512" y="1408176"/>
            <a:ext cx="91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1952" y="841248"/>
            <a:ext cx="1444752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01952" y="841248"/>
            <a:ext cx="14447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005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01952" y="1527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01952" y="18836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Normalise, encode,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SHAP-ready format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346704" y="146304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56432" y="1408176"/>
            <a:ext cx="91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47872" y="841248"/>
            <a:ext cx="1444752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547872" y="841248"/>
            <a:ext cx="14447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005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47872" y="1527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Stage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XGBoost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547872" y="18836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Institute-Course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Prior Score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992624" y="146304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102352" y="1408176"/>
            <a:ext cx="91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93792" y="841248"/>
            <a:ext cx="1444752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193792" y="841248"/>
            <a:ext cx="14447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00584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93792" y="1527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Stage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LightGBM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193792" y="18836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Student-Level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Adjustment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638544" y="1463040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748272" y="1408176"/>
            <a:ext cx="91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39712" y="841248"/>
            <a:ext cx="1444752" cy="1417320"/>
          </a:xfrm>
          <a:prstGeom prst="rect">
            <a:avLst/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839712" y="841248"/>
            <a:ext cx="14447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00584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839712" y="1527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SHAP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Explainer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839712" y="188366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Ranked drivers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 confidence band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256032" y="2423160"/>
            <a:ext cx="863193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7432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OUTPUTS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256032" y="2761488"/>
            <a:ext cx="1627632" cy="1234440"/>
          </a:xfrm>
          <a:prstGeom prst="rect">
            <a:avLst/>
          </a:prstGeom>
          <a:solidFill>
            <a:srgbClr val="11203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347472" y="2834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Placement Risk Score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393192" y="3246120"/>
            <a:ext cx="1353312" cy="0"/>
          </a:xfrm>
          <a:prstGeom prst="line">
            <a:avLst/>
          </a:prstGeom>
          <a:noFill/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01752" y="32918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42 / 100  HIGH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1993392" y="2761488"/>
            <a:ext cx="1627632" cy="1234440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2084832" y="2834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 / 6 / 12-month P(placed)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2130552" y="3246120"/>
            <a:ext cx="1353312" cy="0"/>
          </a:xfrm>
          <a:prstGeom prst="line">
            <a:avLst/>
          </a:prstGeom>
          <a:noFill/>
          <a:ln w="1016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039112" y="32918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18% · 41% · 67%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3730752" y="2761488"/>
            <a:ext cx="1627632" cy="123444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2"/>
          <p:cNvSpPr/>
          <p:nvPr/>
        </p:nvSpPr>
        <p:spPr>
          <a:xfrm>
            <a:off x="3822192" y="2834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Expected Salary Band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3867912" y="3246120"/>
            <a:ext cx="1353312" cy="0"/>
          </a:xfrm>
          <a:prstGeom prst="line">
            <a:avLst/>
          </a:prstGeom>
          <a:noFill/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776472" y="32918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₹3–5 LPA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5468112" y="2761488"/>
            <a:ext cx="1627632" cy="1234440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Text 46"/>
          <p:cNvSpPr/>
          <p:nvPr/>
        </p:nvSpPr>
        <p:spPr>
          <a:xfrm>
            <a:off x="5559552" y="2834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Top Risk Drivers (SHAP)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5605272" y="3246120"/>
            <a:ext cx="1353312" cy="0"/>
          </a:xfrm>
          <a:prstGeom prst="line">
            <a:avLst/>
          </a:prstGeom>
          <a:noFill/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5513832" y="32918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Low internship · Tier-2 · No cert</a:t>
            </a:r>
            <a:endParaRPr lang="en-US" sz="1050" dirty="0"/>
          </a:p>
        </p:txBody>
      </p:sp>
      <p:sp>
        <p:nvSpPr>
          <p:cNvPr id="56" name="Shape 49"/>
          <p:cNvSpPr/>
          <p:nvPr/>
        </p:nvSpPr>
        <p:spPr>
          <a:xfrm>
            <a:off x="7205472" y="2761488"/>
            <a:ext cx="1627632" cy="1234440"/>
          </a:xfrm>
          <a:prstGeom prst="rect">
            <a:avLst/>
          </a:prstGeom>
          <a:solidFill>
            <a:srgbClr val="11203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Text 50"/>
          <p:cNvSpPr/>
          <p:nvPr/>
        </p:nvSpPr>
        <p:spPr>
          <a:xfrm>
            <a:off x="7296912" y="2834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Recommended Action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7342632" y="3246120"/>
            <a:ext cx="1353312" cy="0"/>
          </a:xfrm>
          <a:prstGeom prst="line">
            <a:avLst/>
          </a:prstGeom>
          <a:noFill/>
          <a:ln w="1016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7251192" y="32918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EMI restructure + skill-up</a:t>
            </a:r>
            <a:endParaRPr lang="en-US" sz="1050" dirty="0"/>
          </a:p>
        </p:txBody>
      </p:sp>
      <p:sp>
        <p:nvSpPr>
          <p:cNvPr id="60" name="Shape 53"/>
          <p:cNvSpPr/>
          <p:nvPr/>
        </p:nvSpPr>
        <p:spPr>
          <a:xfrm>
            <a:off x="256032" y="4114800"/>
            <a:ext cx="4023360" cy="292608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256032" y="4114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891B2"/>
                </a:solidFill>
              </a:rPr>
              <a:t>Stage 1: XGBoost  |  Features: NIRF rank, course placement rate, sector demand index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4407408" y="4114800"/>
            <a:ext cx="4480560" cy="292608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4407408" y="4114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DE68A"/>
                </a:solidFill>
              </a:rPr>
              <a:t>Stage 2: LightGBM  |  Features: CGPA, internships, certifications, real-time signals  |  Explainer: SHAP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LENDER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NBFC Sees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97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697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2,847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Total Active Loans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Under monitoring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269748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8686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54680" y="13441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High Risk — Action Needed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15361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Moratorium ending &lt;90 days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97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2697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8686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 / 100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35040" y="13441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Avg Portfolio PRS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5361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Moderate placement confidence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901952"/>
            <a:ext cx="8595360" cy="274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01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INDIVIDUAL BORROWER CARD  —  Sample 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40280"/>
            <a:ext cx="8595360" cy="2724912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Ravi K. — B.Tech CSE, Tier-2 Institute, Hyderabad  |  Loan: ₹18L  |  Course ends: Jun 2025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706624"/>
            <a:ext cx="795528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788920"/>
            <a:ext cx="214884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PLACEMENT RISK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0906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548640" y="37307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HIGH RISK  /  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4005072"/>
            <a:ext cx="633679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92047" y="4005072"/>
            <a:ext cx="65288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4929" y="4005072"/>
            <a:ext cx="633679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9149" y="3931920"/>
            <a:ext cx="91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7709" y="4187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" y="4206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LOW           MED          HIGH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8036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3-month placement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18%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8036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6-month placement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26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41%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880360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12-month placement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36941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67%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880360" y="4123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Expected salary band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1239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₹3–5 LPA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55080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Risk Drivers (SHAP):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31272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Low internship exposure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35112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Tier-2 institute, low sector demand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55080" y="3895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 skill certifications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55080" y="4279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DE68A"/>
                </a:solidFill>
              </a:rPr>
              <a:t>→ Recommend: skill-up + EMI restructure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RESPONSIBLE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Explainability, Fairness &amp; Regulatory Readiness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Explainable by Design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PRS score is backed by SHAP (SHapley Additive exPlanations) — showing ranked drivers per student. No black-box decisions. Every score is auditable and defensible to RBI regulators.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41248"/>
            <a:ext cx="42062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</a:rPr>
              <a:t>No Discriminatory Signals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92040" y="1591056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Model features exclude caste, religion, gender, and geography as direct inputs. Only academic merit, employability signals, and market-level data drive the score — bias-tested at every training iteration.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926080"/>
            <a:ext cx="4206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Decision-Support, Not Rejection Tool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367588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PlacementIQ does not automate loan rejections. It surfaces risk for human portfolio managers to act on — enabling proactive interventions: skill-up referrals, EMI restructuring, or counselling.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926080"/>
            <a:ext cx="42062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8211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</a:rPr>
              <a:t>Student Benefit Built In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892040" y="367588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High-risk alerts trigger support programs — not just flags. The same model that warns lenders can help students through targeted placement assistance, closing the gap between risk and recovery.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PlacementIQ is built to RBI's principle of responsible AI in lending — transparent, auditable, and human-supervised at every decision point.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PlacementIQ Wins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4160520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1A2F4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EXISTING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65760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298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PlacementPilot AI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Serves colleges — student readiness tracking, not lender risk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075688"/>
            <a:ext cx="365760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GradRight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Loan matching platform — no placement-risk scoring for NBFCs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852928"/>
            <a:ext cx="365760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Credit bureaus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6868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Backward-looking CIBIL scores — zero employability signal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630168"/>
            <a:ext cx="365760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630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Manual underwriting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68680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University + co-applicant income only — Tier-1 bias built in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709160" y="804672"/>
            <a:ext cx="4160520" cy="4160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PLACEMENTIQ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892040" y="1298448"/>
            <a:ext cx="374904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1732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Lender-first design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0352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Risk score for NBFC portfolio managers — not a student report card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892040" y="2075688"/>
            <a:ext cx="374904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19456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Forward-looking signal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30352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Predicts placement at 3/6/12 months before moratorium ends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892040" y="2852928"/>
            <a:ext cx="374904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97180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0352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Explainable AI (SHAP)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3035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Every score shows WHY — auditable, defensible to RBI regulators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892040" y="3630168"/>
            <a:ext cx="3749040" cy="68580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4904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035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Closes the repayment loop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530352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Only tool that connects employability outcomes back to loan repayment risk — the missing link in NBFC underwriting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EXECUTION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We Build PlacementIQ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889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278892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Days 1–2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48132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029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Preparation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" y="2587752"/>
            <a:ext cx="2423160" cy="0"/>
          </a:xfrm>
          <a:prstGeom prst="line">
            <a:avLst/>
          </a:prstGeom>
          <a:noFill/>
          <a:ln w="8890">
            <a:solidFill>
              <a:srgbClr val="0891B2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1576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Scrape NIRF 2024 placement data (public)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9981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" y="3081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AISHE institute statistics (open data)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8386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3504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Synthetic training labels from public placement reports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67912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3504" y="3849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CMIE / LinkedIn hiring trend proxies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47472" y="4251960"/>
            <a:ext cx="2606040" cy="502920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43251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</a:rPr>
              <a:t>Python · Scrapy · Pandas · PostgreSQL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3200400" y="822960"/>
            <a:ext cx="27889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200400" y="822960"/>
            <a:ext cx="27889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20040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Phase 2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3200400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Days 3–4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481328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200400" y="2029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Validation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3383280" y="2587752"/>
            <a:ext cx="2423160" cy="0"/>
          </a:xfrm>
          <a:prstGeom prst="line">
            <a:avLst/>
          </a:prstGeom>
          <a:noFill/>
          <a:ln w="8890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2715768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547872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Feature engineering (30+ features across 5 layers)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3099816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547872" y="3081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Stage 1: XGBoost — institute-course baseline score</a:t>
            </a:r>
            <a:endParaRPr lang="en-US" sz="9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128" y="3483864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547872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Stage 2: LightGBM — student-level adjustment</a:t>
            </a:r>
            <a:endParaRPr lang="en-US" sz="9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0128" y="3867912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47872" y="3849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SHAP integration + cross-validation + calibration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3291840" y="4251960"/>
            <a:ext cx="2606040" cy="502920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4992" y="4325112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3675888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Scikit-learn · XGBoost · LightGBM · SHAP</a:t>
            </a:r>
            <a:endParaRPr lang="en-US" sz="850" dirty="0"/>
          </a:p>
        </p:txBody>
      </p:sp>
      <p:sp>
        <p:nvSpPr>
          <p:cNvPr id="41" name="Shape 27"/>
          <p:cNvSpPr/>
          <p:nvPr/>
        </p:nvSpPr>
        <p:spPr>
          <a:xfrm>
            <a:off x="6144768" y="822960"/>
            <a:ext cx="27889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28"/>
          <p:cNvSpPr/>
          <p:nvPr/>
        </p:nvSpPr>
        <p:spPr>
          <a:xfrm>
            <a:off x="6144768" y="822960"/>
            <a:ext cx="27889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29"/>
          <p:cNvSpPr/>
          <p:nvPr/>
        </p:nvSpPr>
        <p:spPr>
          <a:xfrm>
            <a:off x="6144768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Phase 3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6144768" y="1078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Days 5–6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7768" y="1481328"/>
            <a:ext cx="502920" cy="50292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144768" y="2029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47" name="Shape 32"/>
          <p:cNvSpPr/>
          <p:nvPr/>
        </p:nvSpPr>
        <p:spPr>
          <a:xfrm>
            <a:off x="6327648" y="2587752"/>
            <a:ext cx="2423160" cy="0"/>
          </a:xfrm>
          <a:prstGeom prst="line">
            <a:avLst/>
          </a:prstGeom>
          <a:noFill/>
          <a:ln w="889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4496" y="2715768"/>
            <a:ext cx="182880" cy="18288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49224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FastAPI REST endpoint: POST /score → returns PRS JSON</a:t>
            </a:r>
            <a:endParaRPr lang="en-US" sz="95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496" y="3099816"/>
            <a:ext cx="182880" cy="182880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492240" y="3081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Streamlit lender dashboard with portfolio view</a:t>
            </a:r>
            <a:endParaRPr lang="en-US" sz="95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4496" y="3483864"/>
            <a:ext cx="182880" cy="18288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492240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Sample borrower cards with risk bar + SHAP plot</a:t>
            </a:r>
            <a:endParaRPr lang="en-US" sz="95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54496" y="3867912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6492240" y="3849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Plug-in design: drop-in for existing NBFC LOS</a:t>
            </a:r>
            <a:endParaRPr lang="en-US" sz="950" dirty="0"/>
          </a:p>
        </p:txBody>
      </p:sp>
      <p:sp>
        <p:nvSpPr>
          <p:cNvPr id="56" name="Shape 37"/>
          <p:cNvSpPr/>
          <p:nvPr/>
        </p:nvSpPr>
        <p:spPr>
          <a:xfrm>
            <a:off x="6236208" y="4251960"/>
            <a:ext cx="2606040" cy="50292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9360" y="4325112"/>
            <a:ext cx="256032" cy="256032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620256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FastAPI · Streamlit · Plotly · Docker</a:t>
            </a:r>
            <a:endParaRPr lang="en-US" sz="850" dirty="0"/>
          </a:p>
        </p:txBody>
      </p:sp>
      <p:sp>
        <p:nvSpPr>
          <p:cNvPr id="59" name="Shape 39"/>
          <p:cNvSpPr/>
          <p:nvPr/>
        </p:nvSpPr>
        <p:spPr>
          <a:xfrm>
            <a:off x="256032" y="5029200"/>
            <a:ext cx="8631936" cy="0"/>
          </a:xfrm>
          <a:prstGeom prst="rect">
            <a:avLst/>
          </a:prstGeom>
          <a:solidFill>
            <a:srgbClr val="112030"/>
          </a:solidFill>
          <a:ln w="12700">
            <a:solidFill>
              <a:srgbClr val="1A2F4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This Approach Is Validated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6052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 &amp; PROBLEM EVIDENCE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9844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35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CRISIL, Jul 2025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85% of NBFC ed-loan AUM under moratorium; 15% exits in FY26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02996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29968"/>
            <a:ext cx="73152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RBI FSR, Jun 2024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Education loans — 3.6% NPA, highest among all retail loan categories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76148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761488"/>
            <a:ext cx="73152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Azim Premji Univ,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Graduate unemployment 35–40%; only 7% secure salaried jobs within 1 year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49300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493008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9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India Skills Report 2025 (Wheebox)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Only 54.8% of graduates considered employable; MBA 71%, B.Tech 60%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22452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224528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PLFS / CMIE, Feb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Urban youth (15–29) unemployment: 18% in urban areas, 13.7% in rural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804672"/>
            <a:ext cx="416052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TECHNICAL &amp; MODEL 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129844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1298448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1335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Li et al. — Intelligent Systems w/ Applications, 2025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LightGBM + SHAP achieves 0.87 accuracy for loan default prediction; outperforms DT, RF, CNN, ANN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202996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029968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Akarlar — arXiv, Jun 2025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XGBoost + SHAP credit default system: employment title &amp; debt-to-income top SHAP drivers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276148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76148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Bussmann et al. — Computational Economics, 2020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XAI with Shapley values for credit risk — grouping borrowers by SHAP explanation similarity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349300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493008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529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MDPI Data, 2023 — ML Credit Risk SLR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Boosted models (XGBoost, LightGBM) are the most-researched family across 52 ML credit risk papers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0600" y="4224528"/>
            <a:ext cx="3931920" cy="640080"/>
          </a:xfrm>
          <a:prstGeom prst="rect">
            <a:avLst/>
          </a:prstGeom>
          <a:solidFill>
            <a:srgbClr val="112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4224528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261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Springer — XAI Early Loan Default, 2025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XGBoost + linguistic SHAP for early P2P default prediction — proactive, not reactive risk management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5074920"/>
            <a:ext cx="8631936" cy="274320"/>
          </a:xfrm>
          <a:prstGeom prst="rect">
            <a:avLst/>
          </a:prstGeom>
          <a:solidFill>
            <a:srgbClr val="112030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507492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Our approach is grounded in peer-reviewed ML research (2020–2025) and real NBFC market data from CRISIL, RBI &amp; Azim Premji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Case for PlacementIQ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9748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697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5727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25–35%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21396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Reduction in early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delinquency onset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" y="2596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By flagging high-risk borrowers 90 days before moratorium ends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54680" y="804672"/>
            <a:ext cx="269748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804672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601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15727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154680" y="21396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Advance warning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before default risk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264408" y="2596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PRS flags high-risk borrowers while moratorium is still active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35040" y="804672"/>
            <a:ext cx="269748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804672"/>
            <a:ext cx="2697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601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15727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₹92,000 Cr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035040" y="21396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NBFC education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loan AUM — FY27P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44768" y="2596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Growing steadily; FY26 closed at ₹80,000 Cr (CRISIL, 2025)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74320" y="3035808"/>
            <a:ext cx="85953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8912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891B2"/>
                </a:solidFill>
              </a:rPr>
              <a:t>SCALABILITY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401568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Any institute tier or course type</a:t>
            </a:r>
            <a:endParaRPr lang="en-US" sz="10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40156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66160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Plug-in API for NBFC loan origination systems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340156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00800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Retrains as new placement outcome data accrues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274320" y="4114800"/>
            <a:ext cx="8595360" cy="914400"/>
          </a:xfrm>
          <a:prstGeom prst="rect">
            <a:avLst/>
          </a:prstGeom>
          <a:solidFill>
            <a:srgbClr val="11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274320" y="4114800"/>
            <a:ext cx="128016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48640" y="41605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India's NBFC education loan book crossed ₹80,000 Cr in FY26. 85% of it is under moratorium — and 15% exits protection this fiscal alone. PlacementIQ gives Poonawalla Fincorp the first-ever forward-looking placement signal — turning blind underwriting into proactive portfolio intelligence.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PlacementIQ – AI Placement Risk Modelling for Education Loans</dc:title>
  <dc:subject>PptxGenJS Presentation</dc:subject>
  <dc:creator>PptxGenJS</dc:creator>
  <cp:lastModifiedBy>PptxGenJS</cp:lastModifiedBy>
  <cp:revision>1</cp:revision>
  <dcterms:created xsi:type="dcterms:W3CDTF">2026-04-12T18:19:57Z</dcterms:created>
  <dcterms:modified xsi:type="dcterms:W3CDTF">2026-04-12T18:19:57Z</dcterms:modified>
</cp:coreProperties>
</file>